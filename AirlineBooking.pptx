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Arsenal" charset="1" panose="00000500000000000000"/>
      <p:regular r:id="rId25"/>
    </p:embeddedFont>
    <p:embeddedFont>
      <p:font typeface="Canva Sans Bold" charset="1" panose="020B0803030501040103"/>
      <p:regular r:id="rId26"/>
    </p:embeddedFont>
    <p:embeddedFont>
      <p:font typeface="Canva Sans Bold Italics" charset="1" panose="020B0803030501040103"/>
      <p:regular r:id="rId27"/>
    </p:embeddedFont>
    <p:embeddedFont>
      <p:font typeface="Canva Sans" charset="1" panose="020B0503030501040103"/>
      <p:regular r:id="rId28"/>
    </p:embeddedFont>
    <p:embeddedFont>
      <p:font typeface="Be Vietnam Ultra-Bold" charset="1" panose="00000900000000000000"/>
      <p:regular r:id="rId29"/>
    </p:embeddedFont>
    <p:embeddedFont>
      <p:font typeface="Be Vietnam" charset="1" panose="00000500000000000000"/>
      <p:regular r:id="rId30"/>
    </p:embeddedFont>
    <p:embeddedFont>
      <p:font typeface="Arsenal Bold" charset="1" panose="0000080000000000000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embeddings/oleObject1.bin" Type="http://schemas.openxmlformats.org/officeDocument/2006/relationships/oleObjec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790472"/>
            <a:ext cx="3502132" cy="3496528"/>
            <a:chOff x="0" y="0"/>
            <a:chExt cx="6350000" cy="6339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39840"/>
            </a:xfrm>
            <a:custGeom>
              <a:avLst/>
              <a:gdLst/>
              <a:ahLst/>
              <a:cxnLst/>
              <a:rect r="r" b="b" t="t" l="l"/>
              <a:pathLst>
                <a:path h="6339840" w="635000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527841" y="3058738"/>
            <a:ext cx="11553926" cy="3527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89"/>
              </a:lnSpc>
            </a:pPr>
            <a:r>
              <a:rPr lang="en-US" sz="11574" spc="-231">
                <a:solidFill>
                  <a:srgbClr val="2A2E30"/>
                </a:solidFill>
                <a:latin typeface="Arsenal"/>
                <a:ea typeface="Arsenal"/>
                <a:cs typeface="Arsenal"/>
                <a:sym typeface="Arsenal"/>
              </a:rPr>
              <a:t>AIRLINE  BOOKING</a:t>
            </a:r>
          </a:p>
          <a:p>
            <a:pPr algn="l" marL="0" indent="0" lvl="0">
              <a:lnSpc>
                <a:spcPts val="13889"/>
              </a:lnSpc>
            </a:pPr>
            <a:r>
              <a:rPr lang="en-US" sz="11574" spc="-231">
                <a:solidFill>
                  <a:srgbClr val="2A2E30"/>
                </a:solidFill>
                <a:latin typeface="Arsenal"/>
                <a:ea typeface="Arsenal"/>
                <a:cs typeface="Arsenal"/>
                <a:sym typeface="Arsenal"/>
              </a:rPr>
              <a:t>         SYSTEM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1840477" y="-895577"/>
            <a:ext cx="8072794" cy="6491502"/>
            <a:chOff x="0" y="0"/>
            <a:chExt cx="10763725" cy="8655336"/>
          </a:xfrm>
        </p:grpSpPr>
        <p:grpSp>
          <p:nvGrpSpPr>
            <p:cNvPr name="Group 6" id="6"/>
            <p:cNvGrpSpPr/>
            <p:nvPr/>
          </p:nvGrpSpPr>
          <p:grpSpPr>
            <a:xfrm rot="2700000">
              <a:off x="5010073" y="5221574"/>
              <a:ext cx="6125442" cy="1485661"/>
              <a:chOff x="0" y="0"/>
              <a:chExt cx="26301750" cy="637921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6301750" cy="6379210"/>
              </a:xfrm>
              <a:custGeom>
                <a:avLst/>
                <a:gdLst/>
                <a:ahLst/>
                <a:cxnLst/>
                <a:rect r="r" b="b" t="t" l="l"/>
                <a:pathLst>
                  <a:path h="6379210" w="26301750">
                    <a:moveTo>
                      <a:pt x="19619477" y="0"/>
                    </a:moveTo>
                    <a:lnTo>
                      <a:pt x="7607643" y="0"/>
                    </a:lnTo>
                    <a:lnTo>
                      <a:pt x="6706792" y="7620"/>
                    </a:lnTo>
                    <a:lnTo>
                      <a:pt x="0" y="6379210"/>
                    </a:lnTo>
                    <a:lnTo>
                      <a:pt x="19655841" y="6379210"/>
                    </a:lnTo>
                    <a:lnTo>
                      <a:pt x="2630175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8" id="8"/>
            <p:cNvGrpSpPr/>
            <p:nvPr/>
          </p:nvGrpSpPr>
          <p:grpSpPr>
            <a:xfrm rot="2700000">
              <a:off x="3946191" y="2040224"/>
              <a:ext cx="6125442" cy="1485661"/>
              <a:chOff x="0" y="0"/>
              <a:chExt cx="26301750" cy="637921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6301750" cy="6379210"/>
              </a:xfrm>
              <a:custGeom>
                <a:avLst/>
                <a:gdLst/>
                <a:ahLst/>
                <a:cxnLst/>
                <a:rect r="r" b="b" t="t" l="l"/>
                <a:pathLst>
                  <a:path h="6379210" w="26301750">
                    <a:moveTo>
                      <a:pt x="19619477" y="0"/>
                    </a:moveTo>
                    <a:lnTo>
                      <a:pt x="7607643" y="0"/>
                    </a:lnTo>
                    <a:lnTo>
                      <a:pt x="6706792" y="7620"/>
                    </a:lnTo>
                    <a:lnTo>
                      <a:pt x="0" y="6379210"/>
                    </a:lnTo>
                    <a:lnTo>
                      <a:pt x="19655841" y="6379210"/>
                    </a:lnTo>
                    <a:lnTo>
                      <a:pt x="2630175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10" id="10"/>
            <p:cNvGrpSpPr/>
            <p:nvPr/>
          </p:nvGrpSpPr>
          <p:grpSpPr>
            <a:xfrm rot="2700000">
              <a:off x="-371790" y="1948101"/>
              <a:ext cx="6125442" cy="1485661"/>
              <a:chOff x="0" y="0"/>
              <a:chExt cx="26301750" cy="637921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6301750" cy="6379210"/>
              </a:xfrm>
              <a:custGeom>
                <a:avLst/>
                <a:gdLst/>
                <a:ahLst/>
                <a:cxnLst/>
                <a:rect r="r" b="b" t="t" l="l"/>
                <a:pathLst>
                  <a:path h="6379210" w="26301750">
                    <a:moveTo>
                      <a:pt x="19619477" y="0"/>
                    </a:moveTo>
                    <a:lnTo>
                      <a:pt x="7607643" y="0"/>
                    </a:lnTo>
                    <a:lnTo>
                      <a:pt x="6706792" y="7620"/>
                    </a:lnTo>
                    <a:lnTo>
                      <a:pt x="0" y="6379210"/>
                    </a:lnTo>
                    <a:lnTo>
                      <a:pt x="19655841" y="6379210"/>
                    </a:lnTo>
                    <a:lnTo>
                      <a:pt x="2630175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</p:grpSp>
      <p:sp>
        <p:nvSpPr>
          <p:cNvPr name="Freeform 12" id="12"/>
          <p:cNvSpPr/>
          <p:nvPr/>
        </p:nvSpPr>
        <p:spPr>
          <a:xfrm flipH="false" flipV="false" rot="0">
            <a:off x="1028700" y="471318"/>
            <a:ext cx="5503943" cy="2457510"/>
          </a:xfrm>
          <a:custGeom>
            <a:avLst/>
            <a:gdLst/>
            <a:ahLst/>
            <a:cxnLst/>
            <a:rect r="r" b="b" t="t" l="l"/>
            <a:pathLst>
              <a:path h="2457510" w="5503943">
                <a:moveTo>
                  <a:pt x="0" y="0"/>
                </a:moveTo>
                <a:lnTo>
                  <a:pt x="5503943" y="0"/>
                </a:lnTo>
                <a:lnTo>
                  <a:pt x="5503943" y="2457510"/>
                </a:lnTo>
                <a:lnTo>
                  <a:pt x="0" y="24575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830" r="0" b="-10419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081767" y="4879961"/>
            <a:ext cx="5407039" cy="5407039"/>
          </a:xfrm>
          <a:custGeom>
            <a:avLst/>
            <a:gdLst/>
            <a:ahLst/>
            <a:cxnLst/>
            <a:rect r="r" b="b" t="t" l="l"/>
            <a:pathLst>
              <a:path h="5407039" w="5407039">
                <a:moveTo>
                  <a:pt x="0" y="0"/>
                </a:moveTo>
                <a:lnTo>
                  <a:pt x="5407039" y="0"/>
                </a:lnTo>
                <a:lnTo>
                  <a:pt x="5407039" y="5407039"/>
                </a:lnTo>
                <a:lnTo>
                  <a:pt x="0" y="54070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D4E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271999" y="1514881"/>
          <a:ext cx="7908899" cy="7257238"/>
        </p:xfrm>
        <a:graphic>
          <a:graphicData uri="http://schemas.openxmlformats.org/drawingml/2006/table">
            <a:tbl>
              <a:tblPr/>
              <a:tblGrid>
                <a:gridCol w="4847493"/>
                <a:gridCol w="3061406"/>
              </a:tblGrid>
              <a:tr h="94041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3"/>
                        </a:lnSpc>
                        <a:defRPr/>
                      </a:pPr>
                      <a:r>
                        <a:rPr lang="en-US" sz="2416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2510030305</a:t>
                      </a:r>
                      <a:endParaRPr lang="en-US" sz="1100"/>
                    </a:p>
                  </a:txBody>
                  <a:tcPr marL="153448" marR="153448" marT="153448" marB="153448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3"/>
                        </a:lnSpc>
                        <a:defRPr/>
                      </a:pPr>
                      <a:r>
                        <a:rPr lang="en-US" b="true" sz="2416" i="true">
                          <a:solidFill>
                            <a:srgbClr val="000000"/>
                          </a:solidFill>
                          <a:latin typeface="Canva Sans Bold Italics"/>
                          <a:ea typeface="Canva Sans Bold Italics"/>
                          <a:cs typeface="Canva Sans Bold Italics"/>
                          <a:sym typeface="Canva Sans Bold Italics"/>
                        </a:rPr>
                        <a:t>Snikitha</a:t>
                      </a:r>
                      <a:endParaRPr lang="en-US" sz="1100"/>
                    </a:p>
                  </a:txBody>
                  <a:tcPr marL="153448" marR="153448" marT="153448" marB="153448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4041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3"/>
                        </a:lnSpc>
                        <a:defRPr/>
                      </a:pPr>
                      <a:r>
                        <a:rPr lang="en-US" sz="2416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2510030283</a:t>
                      </a:r>
                      <a:endParaRPr lang="en-US" sz="1100"/>
                    </a:p>
                  </a:txBody>
                  <a:tcPr marL="153448" marR="153448" marT="153448" marB="153448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3"/>
                        </a:lnSpc>
                        <a:defRPr/>
                      </a:pPr>
                      <a:r>
                        <a:rPr lang="en-US" b="true" sz="2416" i="true">
                          <a:solidFill>
                            <a:srgbClr val="000000"/>
                          </a:solidFill>
                          <a:latin typeface="Canva Sans Bold Italics"/>
                          <a:ea typeface="Canva Sans Bold Italics"/>
                          <a:cs typeface="Canva Sans Bold Italics"/>
                          <a:sym typeface="Canva Sans Bold Italics"/>
                        </a:rPr>
                        <a:t>Nandini</a:t>
                      </a:r>
                      <a:endParaRPr lang="en-US" sz="1100"/>
                    </a:p>
                  </a:txBody>
                  <a:tcPr marL="153448" marR="153448" marT="153448" marB="153448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4041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3"/>
                        </a:lnSpc>
                        <a:defRPr/>
                      </a:pPr>
                      <a:r>
                        <a:rPr lang="en-US" sz="2416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2510030400</a:t>
                      </a:r>
                      <a:endParaRPr lang="en-US" sz="1100"/>
                    </a:p>
                  </a:txBody>
                  <a:tcPr marL="153448" marR="153448" marT="153448" marB="153448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3"/>
                        </a:lnSpc>
                        <a:defRPr/>
                      </a:pPr>
                      <a:r>
                        <a:rPr lang="en-US" b="true" sz="2416" i="true">
                          <a:solidFill>
                            <a:srgbClr val="000000"/>
                          </a:solidFill>
                          <a:latin typeface="Canva Sans Bold Italics"/>
                          <a:ea typeface="Canva Sans Bold Italics"/>
                          <a:cs typeface="Canva Sans Bold Italics"/>
                          <a:sym typeface="Canva Sans Bold Italics"/>
                        </a:rPr>
                        <a:t>Varshitha</a:t>
                      </a:r>
                      <a:endParaRPr lang="en-US" sz="1100"/>
                    </a:p>
                  </a:txBody>
                  <a:tcPr marL="153448" marR="153448" marT="153448" marB="153448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4041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3"/>
                        </a:lnSpc>
                        <a:defRPr/>
                      </a:pPr>
                      <a:r>
                        <a:rPr lang="en-US" sz="2416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2510030374</a:t>
                      </a:r>
                      <a:endParaRPr lang="en-US" sz="1100"/>
                    </a:p>
                  </a:txBody>
                  <a:tcPr marL="153448" marR="153448" marT="153448" marB="153448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3"/>
                        </a:lnSpc>
                        <a:defRPr/>
                      </a:pPr>
                      <a:r>
                        <a:rPr lang="en-US" b="true" sz="2416" i="true">
                          <a:solidFill>
                            <a:srgbClr val="000000"/>
                          </a:solidFill>
                          <a:latin typeface="Canva Sans Bold Italics"/>
                          <a:ea typeface="Canva Sans Bold Italics"/>
                          <a:cs typeface="Canva Sans Bold Italics"/>
                          <a:sym typeface="Canva Sans Bold Italics"/>
                        </a:rPr>
                        <a:t>SriHarini</a:t>
                      </a:r>
                      <a:endParaRPr lang="en-US" sz="1100"/>
                    </a:p>
                  </a:txBody>
                  <a:tcPr marL="153448" marR="153448" marT="153448" marB="153448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4041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3"/>
                        </a:lnSpc>
                        <a:defRPr/>
                      </a:pPr>
                      <a:r>
                        <a:rPr lang="en-US" sz="2416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2510080059</a:t>
                      </a:r>
                      <a:endParaRPr lang="en-US" sz="1100"/>
                    </a:p>
                  </a:txBody>
                  <a:tcPr marL="153448" marR="153448" marT="153448" marB="153448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3"/>
                        </a:lnSpc>
                        <a:defRPr/>
                      </a:pPr>
                      <a:r>
                        <a:rPr lang="en-US" b="true" sz="2416" i="true">
                          <a:solidFill>
                            <a:srgbClr val="000000"/>
                          </a:solidFill>
                          <a:latin typeface="Canva Sans Bold Italics"/>
                          <a:ea typeface="Canva Sans Bold Italics"/>
                          <a:cs typeface="Canva Sans Bold Italics"/>
                          <a:sym typeface="Canva Sans Bold Italics"/>
                        </a:rPr>
                        <a:t>Deekshitha</a:t>
                      </a:r>
                      <a:endParaRPr lang="en-US" sz="1100"/>
                    </a:p>
                  </a:txBody>
                  <a:tcPr marL="153448" marR="153448" marT="153448" marB="153448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4041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3"/>
                        </a:lnSpc>
                        <a:defRPr/>
                      </a:pPr>
                      <a:r>
                        <a:rPr lang="en-US" sz="2416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2510030035</a:t>
                      </a:r>
                      <a:endParaRPr lang="en-US" sz="1100"/>
                    </a:p>
                  </a:txBody>
                  <a:tcPr marL="153448" marR="153448" marT="153448" marB="153448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3"/>
                        </a:lnSpc>
                        <a:defRPr/>
                      </a:pPr>
                      <a:r>
                        <a:rPr lang="en-US" b="true" sz="2416" i="true">
                          <a:solidFill>
                            <a:srgbClr val="000000"/>
                          </a:solidFill>
                          <a:latin typeface="Canva Sans Bold Italics"/>
                          <a:ea typeface="Canva Sans Bold Italics"/>
                          <a:cs typeface="Canva Sans Bold Italics"/>
                          <a:sym typeface="Canva Sans Bold Italics"/>
                        </a:rPr>
                        <a:t>Anushka</a:t>
                      </a:r>
                      <a:endParaRPr lang="en-US" sz="1100"/>
                    </a:p>
                  </a:txBody>
                  <a:tcPr marL="153448" marR="153448" marT="153448" marB="153448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835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3"/>
                        </a:lnSpc>
                        <a:defRPr/>
                      </a:pPr>
                      <a:r>
                        <a:rPr lang="en-US" sz="2416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2510030173</a:t>
                      </a:r>
                      <a:endParaRPr lang="en-US" sz="1100"/>
                    </a:p>
                  </a:txBody>
                  <a:tcPr marL="153448" marR="153448" marT="153448" marB="153448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3"/>
                        </a:lnSpc>
                        <a:defRPr/>
                      </a:pPr>
                      <a:r>
                        <a:rPr lang="en-US" b="true" sz="2416" i="true">
                          <a:solidFill>
                            <a:srgbClr val="000000"/>
                          </a:solidFill>
                          <a:latin typeface="Canva Sans Bold Italics"/>
                          <a:ea typeface="Canva Sans Bold Italics"/>
                          <a:cs typeface="Canva Sans Bold Italics"/>
                          <a:sym typeface="Canva Sans Bold Italics"/>
                        </a:rPr>
                        <a:t>Naga Sreeja</a:t>
                      </a:r>
                      <a:endParaRPr lang="en-US" sz="1100"/>
                    </a:p>
                  </a:txBody>
                  <a:tcPr marL="153448" marR="153448" marT="153448" marB="153448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637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3"/>
                        </a:lnSpc>
                        <a:defRPr/>
                      </a:pPr>
                      <a:r>
                        <a:rPr lang="en-US" sz="2416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2510080025</a:t>
                      </a:r>
                      <a:endParaRPr lang="en-US" sz="1100"/>
                    </a:p>
                  </a:txBody>
                  <a:tcPr marL="153448" marR="153448" marT="153448" marB="153448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3"/>
                        </a:lnSpc>
                        <a:defRPr/>
                      </a:pPr>
                      <a:r>
                        <a:rPr lang="en-US" b="true" sz="2416" i="true">
                          <a:solidFill>
                            <a:srgbClr val="000000"/>
                          </a:solidFill>
                          <a:latin typeface="Canva Sans Bold Italics"/>
                          <a:ea typeface="Canva Sans Bold Italics"/>
                          <a:cs typeface="Canva Sans Bold Italics"/>
                          <a:sym typeface="Canva Sans Bold Italics"/>
                        </a:rPr>
                        <a:t>Varna</a:t>
                      </a:r>
                      <a:endParaRPr lang="en-US" sz="1100"/>
                    </a:p>
                  </a:txBody>
                  <a:tcPr marL="153448" marR="153448" marT="153448" marB="153448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7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9377373" y="3060823"/>
            <a:ext cx="7767627" cy="274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800"/>
              </a:lnSpc>
            </a:pPr>
            <a:r>
              <a:rPr lang="en-US" sz="9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Team Members</a:t>
            </a:r>
          </a:p>
        </p:txBody>
      </p:sp>
      <p:sp>
        <p:nvSpPr>
          <p:cNvPr name="AutoShape 4" id="4"/>
          <p:cNvSpPr/>
          <p:nvPr/>
        </p:nvSpPr>
        <p:spPr>
          <a:xfrm>
            <a:off x="9256123" y="6119812"/>
            <a:ext cx="8384422" cy="0"/>
          </a:xfrm>
          <a:prstGeom prst="line">
            <a:avLst/>
          </a:prstGeom>
          <a:ln cap="flat" w="1047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D4E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00100"/>
            <a:ext cx="16230600" cy="2032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589"/>
              </a:lnSpc>
              <a:spcBef>
                <a:spcPct val="0"/>
              </a:spcBef>
            </a:pPr>
            <a:r>
              <a:rPr lang="en-US" sz="1185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Project Abstract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4533478" y="6532478"/>
            <a:ext cx="3754522" cy="3754522"/>
            <a:chOff x="0" y="0"/>
            <a:chExt cx="5006029" cy="5006029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2503014" y="2503014"/>
              <a:ext cx="1251507" cy="1251507"/>
              <a:chOff x="0" y="0"/>
              <a:chExt cx="1913890" cy="191389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6" id="6"/>
            <p:cNvGrpSpPr/>
            <p:nvPr/>
          </p:nvGrpSpPr>
          <p:grpSpPr>
            <a:xfrm rot="0">
              <a:off x="2503014" y="1251507"/>
              <a:ext cx="1251507" cy="1251507"/>
              <a:chOff x="0" y="0"/>
              <a:chExt cx="1913890" cy="191389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8" id="8"/>
            <p:cNvGrpSpPr/>
            <p:nvPr/>
          </p:nvGrpSpPr>
          <p:grpSpPr>
            <a:xfrm rot="0">
              <a:off x="1251507" y="2503014"/>
              <a:ext cx="1251507" cy="1251507"/>
              <a:chOff x="0" y="0"/>
              <a:chExt cx="1913890" cy="191389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10" id="10"/>
            <p:cNvGrpSpPr/>
            <p:nvPr/>
          </p:nvGrpSpPr>
          <p:grpSpPr>
            <a:xfrm rot="0">
              <a:off x="3754522" y="3754522"/>
              <a:ext cx="1251507" cy="1251507"/>
              <a:chOff x="0" y="0"/>
              <a:chExt cx="1913890" cy="191389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12" id="12"/>
            <p:cNvGrpSpPr/>
            <p:nvPr/>
          </p:nvGrpSpPr>
          <p:grpSpPr>
            <a:xfrm rot="0">
              <a:off x="3754522" y="2503014"/>
              <a:ext cx="1251507" cy="1251507"/>
              <a:chOff x="0" y="0"/>
              <a:chExt cx="1913890" cy="191389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14" id="14"/>
            <p:cNvGrpSpPr/>
            <p:nvPr/>
          </p:nvGrpSpPr>
          <p:grpSpPr>
            <a:xfrm rot="0">
              <a:off x="2503014" y="3754522"/>
              <a:ext cx="1251507" cy="1251507"/>
              <a:chOff x="0" y="0"/>
              <a:chExt cx="1913890" cy="191389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16" id="16"/>
            <p:cNvGrpSpPr/>
            <p:nvPr/>
          </p:nvGrpSpPr>
          <p:grpSpPr>
            <a:xfrm rot="0">
              <a:off x="3754522" y="1251507"/>
              <a:ext cx="1251507" cy="1251507"/>
              <a:chOff x="0" y="0"/>
              <a:chExt cx="1913890" cy="191389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18" id="18"/>
            <p:cNvGrpSpPr/>
            <p:nvPr/>
          </p:nvGrpSpPr>
          <p:grpSpPr>
            <a:xfrm rot="0">
              <a:off x="1251507" y="3754522"/>
              <a:ext cx="1251507" cy="1251507"/>
              <a:chOff x="0" y="0"/>
              <a:chExt cx="1913890" cy="191389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20" id="20"/>
            <p:cNvGrpSpPr/>
            <p:nvPr/>
          </p:nvGrpSpPr>
          <p:grpSpPr>
            <a:xfrm rot="0">
              <a:off x="3754522" y="0"/>
              <a:ext cx="1251507" cy="1251507"/>
              <a:chOff x="0" y="0"/>
              <a:chExt cx="1913890" cy="191389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22" id="22"/>
            <p:cNvGrpSpPr/>
            <p:nvPr/>
          </p:nvGrpSpPr>
          <p:grpSpPr>
            <a:xfrm rot="0">
              <a:off x="0" y="3754522"/>
              <a:ext cx="1251507" cy="1251507"/>
              <a:chOff x="0" y="0"/>
              <a:chExt cx="1913890" cy="191389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24" id="24"/>
            <p:cNvGrpSpPr/>
            <p:nvPr/>
          </p:nvGrpSpPr>
          <p:grpSpPr>
            <a:xfrm rot="0">
              <a:off x="2503014" y="1251507"/>
              <a:ext cx="1251507" cy="1251507"/>
              <a:chOff x="0" y="0"/>
              <a:chExt cx="1913890" cy="191389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</p:spPr>
          </p:sp>
        </p:grpSp>
      </p:grpSp>
      <p:grpSp>
        <p:nvGrpSpPr>
          <p:cNvPr name="Group 26" id="26"/>
          <p:cNvGrpSpPr/>
          <p:nvPr/>
        </p:nvGrpSpPr>
        <p:grpSpPr>
          <a:xfrm rot="0">
            <a:off x="1028700" y="4260227"/>
            <a:ext cx="14874172" cy="3842600"/>
            <a:chOff x="0" y="0"/>
            <a:chExt cx="19832229" cy="5123467"/>
          </a:xfrm>
        </p:grpSpPr>
        <p:sp>
          <p:nvSpPr>
            <p:cNvPr name="TextBox 27" id="27"/>
            <p:cNvSpPr txBox="true"/>
            <p:nvPr/>
          </p:nvSpPr>
          <p:spPr>
            <a:xfrm rot="0">
              <a:off x="0" y="-76200"/>
              <a:ext cx="19832229" cy="9923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350"/>
                </a:lnSpc>
                <a:spcBef>
                  <a:spcPct val="0"/>
                </a:spcBef>
              </a:pPr>
              <a:r>
                <a:rPr lang="en-US" b="true" sz="4535" spc="45">
                  <a:solidFill>
                    <a:srgbClr val="000000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Defining Goals for the Booking System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0" y="1543205"/>
              <a:ext cx="19832229" cy="35802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442"/>
                </a:lnSpc>
              </a:pPr>
              <a:r>
                <a:rPr lang="en-US" sz="3887" spc="77">
                  <a:solidFill>
                    <a:srgbClr val="6F9EB5"/>
                  </a:solidFill>
                  <a:latin typeface="Be Vietnam"/>
                  <a:ea typeface="Be Vietnam"/>
                  <a:cs typeface="Be Vietnam"/>
                  <a:sym typeface="Be Vietnam"/>
                </a:rPr>
                <a:t>The main objectives include: enhancing user experience through intuitive design, providing efficient flight management, and implementing effective algorithms for searching and sorting flight data seamlessly.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D4E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019730" y="6494928"/>
            <a:ext cx="5507572" cy="1991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32"/>
              </a:lnSpc>
              <a:spcBef>
                <a:spcPct val="0"/>
              </a:spcBef>
            </a:pPr>
            <a:r>
              <a:rPr lang="en-US" sz="13110" spc="-262">
                <a:solidFill>
                  <a:srgbClr val="000000"/>
                </a:solidFill>
                <a:latin typeface="Arsenal"/>
                <a:ea typeface="Arsenal"/>
                <a:cs typeface="Arsenal"/>
                <a:sym typeface="Arsenal"/>
              </a:rPr>
              <a:t>Modules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99288" y="196923"/>
            <a:ext cx="14968696" cy="9826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9"/>
              </a:lnSpc>
              <a:spcBef>
                <a:spcPct val="0"/>
              </a:spcBef>
            </a:pPr>
            <a:r>
              <a:rPr lang="en-US" b="true" sz="412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Flight Management Module</a:t>
            </a:r>
          </a:p>
          <a:p>
            <a:pPr algn="l">
              <a:lnSpc>
                <a:spcPts val="3376"/>
              </a:lnSpc>
              <a:spcBef>
                <a:spcPct val="0"/>
              </a:spcBef>
            </a:pPr>
            <a:r>
              <a:rPr lang="en-US" sz="241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Stores flight details (Flight No, From, To, Time, Airline, Date, Cost, Seats)</a:t>
            </a:r>
          </a:p>
          <a:p>
            <a:pPr algn="l">
              <a:lnSpc>
                <a:spcPts val="3376"/>
              </a:lnSpc>
              <a:spcBef>
                <a:spcPct val="0"/>
              </a:spcBef>
            </a:pPr>
            <a:r>
              <a:rPr lang="en-US" sz="241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Uses Singly Linked List</a:t>
            </a:r>
          </a:p>
          <a:p>
            <a:pPr algn="l">
              <a:lnSpc>
                <a:spcPts val="3376"/>
              </a:lnSpc>
              <a:spcBef>
                <a:spcPct val="0"/>
              </a:spcBef>
            </a:pPr>
            <a:r>
              <a:rPr lang="en-US" sz="241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Functions:</a:t>
            </a:r>
          </a:p>
          <a:p>
            <a:pPr algn="l">
              <a:lnSpc>
                <a:spcPts val="3376"/>
              </a:lnSpc>
              <a:spcBef>
                <a:spcPct val="0"/>
              </a:spcBef>
            </a:pPr>
            <a:r>
              <a:rPr lang="en-US" sz="241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Add Flight</a:t>
            </a:r>
          </a:p>
          <a:p>
            <a:pPr algn="l">
              <a:lnSpc>
                <a:spcPts val="3376"/>
              </a:lnSpc>
              <a:spcBef>
                <a:spcPct val="0"/>
              </a:spcBef>
            </a:pPr>
            <a:r>
              <a:rPr lang="en-US" sz="241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Display Flights</a:t>
            </a:r>
          </a:p>
          <a:p>
            <a:pPr algn="l">
              <a:lnSpc>
                <a:spcPts val="3376"/>
              </a:lnSpc>
              <a:spcBef>
                <a:spcPct val="0"/>
              </a:spcBef>
            </a:pPr>
            <a:r>
              <a:rPr lang="en-US" sz="241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Convert list to array (for sorting)</a:t>
            </a:r>
          </a:p>
          <a:p>
            <a:pPr algn="l">
              <a:lnSpc>
                <a:spcPts val="3376"/>
              </a:lnSpc>
              <a:spcBef>
                <a:spcPct val="0"/>
              </a:spcBef>
            </a:pPr>
          </a:p>
          <a:p>
            <a:pPr algn="l">
              <a:lnSpc>
                <a:spcPts val="4327"/>
              </a:lnSpc>
              <a:spcBef>
                <a:spcPct val="0"/>
              </a:spcBef>
            </a:pPr>
            <a:r>
              <a:rPr lang="en-US" sz="309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b="true" sz="309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Booking Management Module</a:t>
            </a:r>
          </a:p>
          <a:p>
            <a:pPr algn="l">
              <a:lnSpc>
                <a:spcPts val="3376"/>
              </a:lnSpc>
              <a:spcBef>
                <a:spcPct val="0"/>
              </a:spcBef>
            </a:pPr>
            <a:r>
              <a:rPr lang="en-US" sz="241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Stores passenger booking details</a:t>
            </a:r>
          </a:p>
          <a:p>
            <a:pPr algn="l">
              <a:lnSpc>
                <a:spcPts val="3376"/>
              </a:lnSpc>
              <a:spcBef>
                <a:spcPct val="0"/>
              </a:spcBef>
            </a:pPr>
            <a:r>
              <a:rPr lang="en-US" sz="241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Uses Doubly Linked List</a:t>
            </a:r>
          </a:p>
          <a:p>
            <a:pPr algn="l">
              <a:lnSpc>
                <a:spcPts val="3376"/>
              </a:lnSpc>
              <a:spcBef>
                <a:spcPct val="0"/>
              </a:spcBef>
            </a:pPr>
            <a:r>
              <a:rPr lang="en-US" sz="241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Functions:</a:t>
            </a:r>
          </a:p>
          <a:p>
            <a:pPr algn="l">
              <a:lnSpc>
                <a:spcPts val="3376"/>
              </a:lnSpc>
              <a:spcBef>
                <a:spcPct val="0"/>
              </a:spcBef>
            </a:pPr>
            <a:r>
              <a:rPr lang="en-US" sz="241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Add Booking</a:t>
            </a:r>
          </a:p>
          <a:p>
            <a:pPr algn="l">
              <a:lnSpc>
                <a:spcPts val="3376"/>
              </a:lnSpc>
              <a:spcBef>
                <a:spcPct val="0"/>
              </a:spcBef>
            </a:pPr>
            <a:r>
              <a:rPr lang="en-US" sz="241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Display Bookings</a:t>
            </a:r>
          </a:p>
          <a:p>
            <a:pPr algn="l">
              <a:lnSpc>
                <a:spcPts val="3376"/>
              </a:lnSpc>
              <a:spcBef>
                <a:spcPct val="0"/>
              </a:spcBef>
            </a:pPr>
          </a:p>
          <a:p>
            <a:pPr algn="l">
              <a:lnSpc>
                <a:spcPts val="4327"/>
              </a:lnSpc>
              <a:spcBef>
                <a:spcPct val="0"/>
              </a:spcBef>
            </a:pPr>
            <a:r>
              <a:rPr lang="en-US" b="true" sz="309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Check-in Queue Module</a:t>
            </a:r>
          </a:p>
          <a:p>
            <a:pPr algn="l">
              <a:lnSpc>
                <a:spcPts val="3376"/>
              </a:lnSpc>
              <a:spcBef>
                <a:spcPct val="0"/>
              </a:spcBef>
            </a:pPr>
            <a:r>
              <a:rPr lang="en-US" sz="241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Manages passenger check-in process</a:t>
            </a:r>
          </a:p>
          <a:p>
            <a:pPr algn="l">
              <a:lnSpc>
                <a:spcPts val="3376"/>
              </a:lnSpc>
              <a:spcBef>
                <a:spcPct val="0"/>
              </a:spcBef>
            </a:pPr>
            <a:r>
              <a:rPr lang="en-US" sz="241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Uses Queue (FIFO)</a:t>
            </a:r>
          </a:p>
          <a:p>
            <a:pPr algn="l">
              <a:lnSpc>
                <a:spcPts val="3376"/>
              </a:lnSpc>
              <a:spcBef>
                <a:spcPct val="0"/>
              </a:spcBef>
            </a:pPr>
            <a:r>
              <a:rPr lang="en-US" sz="241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Functions:</a:t>
            </a:r>
          </a:p>
          <a:p>
            <a:pPr algn="l">
              <a:lnSpc>
                <a:spcPts val="3376"/>
              </a:lnSpc>
              <a:spcBef>
                <a:spcPct val="0"/>
              </a:spcBef>
            </a:pPr>
            <a:r>
              <a:rPr lang="en-US" sz="241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Join Queue</a:t>
            </a:r>
          </a:p>
          <a:p>
            <a:pPr algn="l">
              <a:lnSpc>
                <a:spcPts val="3376"/>
              </a:lnSpc>
              <a:spcBef>
                <a:spcPct val="0"/>
              </a:spcBef>
            </a:pPr>
            <a:r>
              <a:rPr lang="en-US" sz="241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Process Check-in</a:t>
            </a:r>
          </a:p>
          <a:p>
            <a:pPr algn="l">
              <a:lnSpc>
                <a:spcPts val="3376"/>
              </a:lnSpc>
              <a:spcBef>
                <a:spcPct val="0"/>
              </a:spcBef>
            </a:pPr>
            <a:r>
              <a:rPr lang="en-US" sz="241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Display Queue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D4E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28700"/>
            <a:ext cx="9050345" cy="7158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02"/>
              </a:lnSpc>
              <a:spcBef>
                <a:spcPct val="0"/>
              </a:spcBef>
            </a:pPr>
            <a:r>
              <a:rPr lang="en-US" sz="5168" spc="-103">
                <a:solidFill>
                  <a:srgbClr val="000000"/>
                </a:solidFill>
                <a:latin typeface="Arsenal"/>
                <a:ea typeface="Arsenal"/>
                <a:cs typeface="Arsenal"/>
                <a:sym typeface="Arsenal"/>
              </a:rPr>
              <a:t> </a:t>
            </a:r>
            <a:r>
              <a:rPr lang="en-US" b="true" sz="5168" spc="-103">
                <a:solidFill>
                  <a:srgbClr val="000000"/>
                </a:solidFill>
                <a:latin typeface="Arsenal Bold"/>
                <a:ea typeface="Arsenal Bold"/>
                <a:cs typeface="Arsenal Bold"/>
                <a:sym typeface="Arsenal Bold"/>
              </a:rPr>
              <a:t>Searching Module</a:t>
            </a:r>
          </a:p>
          <a:p>
            <a:pPr algn="l">
              <a:lnSpc>
                <a:spcPts val="4962"/>
              </a:lnSpc>
              <a:spcBef>
                <a:spcPct val="0"/>
              </a:spcBef>
            </a:pPr>
            <a:r>
              <a:rPr lang="en-US" sz="4135" spc="-82">
                <a:solidFill>
                  <a:srgbClr val="000000"/>
                </a:solidFill>
                <a:latin typeface="Arsenal"/>
                <a:ea typeface="Arsenal"/>
                <a:cs typeface="Arsenal"/>
                <a:sym typeface="Arsenal"/>
              </a:rPr>
              <a:t>Uses Generic Binary Search</a:t>
            </a:r>
          </a:p>
          <a:p>
            <a:pPr algn="l">
              <a:lnSpc>
                <a:spcPts val="4962"/>
              </a:lnSpc>
              <a:spcBef>
                <a:spcPct val="0"/>
              </a:spcBef>
            </a:pPr>
            <a:r>
              <a:rPr lang="en-US" sz="4135" spc="-82">
                <a:solidFill>
                  <a:srgbClr val="000000"/>
                </a:solidFill>
                <a:latin typeface="Arsenal"/>
                <a:ea typeface="Arsenal"/>
                <a:cs typeface="Arsenal"/>
                <a:sym typeface="Arsenal"/>
              </a:rPr>
              <a:t>Searches flights efficiently</a:t>
            </a:r>
          </a:p>
          <a:p>
            <a:pPr algn="l">
              <a:lnSpc>
                <a:spcPts val="4962"/>
              </a:lnSpc>
              <a:spcBef>
                <a:spcPct val="0"/>
              </a:spcBef>
            </a:pPr>
            <a:r>
              <a:rPr lang="en-US" sz="4135" spc="-82">
                <a:solidFill>
                  <a:srgbClr val="000000"/>
                </a:solidFill>
                <a:latin typeface="Arsenal"/>
                <a:ea typeface="Arsenal"/>
                <a:cs typeface="Arsenal"/>
                <a:sym typeface="Arsenal"/>
              </a:rPr>
              <a:t>Based on Comparable interface</a:t>
            </a:r>
          </a:p>
          <a:p>
            <a:pPr algn="l">
              <a:lnSpc>
                <a:spcPts val="4962"/>
              </a:lnSpc>
              <a:spcBef>
                <a:spcPct val="0"/>
              </a:spcBef>
            </a:pPr>
          </a:p>
          <a:p>
            <a:pPr algn="l">
              <a:lnSpc>
                <a:spcPts val="6202"/>
              </a:lnSpc>
              <a:spcBef>
                <a:spcPct val="0"/>
              </a:spcBef>
            </a:pPr>
            <a:r>
              <a:rPr lang="en-US" b="true" sz="5168" spc="-103">
                <a:solidFill>
                  <a:srgbClr val="000000"/>
                </a:solidFill>
                <a:latin typeface="Arsenal Bold"/>
                <a:ea typeface="Arsenal Bold"/>
                <a:cs typeface="Arsenal Bold"/>
                <a:sym typeface="Arsenal Bold"/>
              </a:rPr>
              <a:t>Sorting Module</a:t>
            </a:r>
          </a:p>
          <a:p>
            <a:pPr algn="l">
              <a:lnSpc>
                <a:spcPts val="4962"/>
              </a:lnSpc>
              <a:spcBef>
                <a:spcPct val="0"/>
              </a:spcBef>
            </a:pPr>
            <a:r>
              <a:rPr lang="en-US" sz="4135" spc="-82">
                <a:solidFill>
                  <a:srgbClr val="000000"/>
                </a:solidFill>
                <a:latin typeface="Arsenal"/>
                <a:ea typeface="Arsenal"/>
                <a:cs typeface="Arsenal"/>
                <a:sym typeface="Arsenal"/>
              </a:rPr>
              <a:t>Quick Sort</a:t>
            </a:r>
          </a:p>
          <a:p>
            <a:pPr algn="l">
              <a:lnSpc>
                <a:spcPts val="4962"/>
              </a:lnSpc>
              <a:spcBef>
                <a:spcPct val="0"/>
              </a:spcBef>
            </a:pPr>
            <a:r>
              <a:rPr lang="en-US" sz="4135" spc="-82">
                <a:solidFill>
                  <a:srgbClr val="000000"/>
                </a:solidFill>
                <a:latin typeface="Arsenal"/>
                <a:ea typeface="Arsenal"/>
                <a:cs typeface="Arsenal"/>
                <a:sym typeface="Arsenal"/>
              </a:rPr>
              <a:t>Sorts flights by flight number</a:t>
            </a:r>
          </a:p>
          <a:p>
            <a:pPr algn="l">
              <a:lnSpc>
                <a:spcPts val="4962"/>
              </a:lnSpc>
              <a:spcBef>
                <a:spcPct val="0"/>
              </a:spcBef>
            </a:pPr>
            <a:r>
              <a:rPr lang="en-US" sz="4135" spc="-82">
                <a:solidFill>
                  <a:srgbClr val="000000"/>
                </a:solidFill>
                <a:latin typeface="Arsenal"/>
                <a:ea typeface="Arsenal"/>
                <a:cs typeface="Arsenal"/>
                <a:sym typeface="Arsenal"/>
              </a:rPr>
              <a:t>Merge Sort</a:t>
            </a:r>
          </a:p>
          <a:p>
            <a:pPr algn="l">
              <a:lnSpc>
                <a:spcPts val="4962"/>
              </a:lnSpc>
              <a:spcBef>
                <a:spcPct val="0"/>
              </a:spcBef>
            </a:pPr>
            <a:r>
              <a:rPr lang="en-US" sz="4135" spc="-82">
                <a:solidFill>
                  <a:srgbClr val="000000"/>
                </a:solidFill>
                <a:latin typeface="Arsenal"/>
                <a:ea typeface="Arsenal"/>
                <a:cs typeface="Arsenal"/>
                <a:sym typeface="Arsenal"/>
              </a:rPr>
              <a:t>Sorts flights by departure time</a:t>
            </a:r>
          </a:p>
          <a:p>
            <a:pPr algn="l">
              <a:lnSpc>
                <a:spcPts val="4962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0079045" y="865254"/>
            <a:ext cx="6467475" cy="753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  <a:spcBef>
                <a:spcPct val="0"/>
              </a:spcBef>
            </a:pPr>
            <a:r>
              <a:rPr lang="en-US" b="true" sz="5000" spc="-100">
                <a:solidFill>
                  <a:srgbClr val="000000"/>
                </a:solidFill>
                <a:latin typeface="Arsenal Bold"/>
                <a:ea typeface="Arsenal Bold"/>
                <a:cs typeface="Arsenal Bold"/>
                <a:sym typeface="Arsenal Bold"/>
              </a:rPr>
              <a:t>File Handling Module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 spc="-79">
                <a:solidFill>
                  <a:srgbClr val="000000"/>
                </a:solidFill>
                <a:latin typeface="Arsenal"/>
                <a:ea typeface="Arsenal"/>
                <a:cs typeface="Arsenal"/>
                <a:sym typeface="Arsenal"/>
              </a:rPr>
              <a:t>Reads &amp; writes data to files: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 spc="-79">
                <a:solidFill>
                  <a:srgbClr val="000000"/>
                </a:solidFill>
                <a:latin typeface="Arsenal"/>
                <a:ea typeface="Arsenal"/>
                <a:cs typeface="Arsenal"/>
                <a:sym typeface="Arsenal"/>
              </a:rPr>
              <a:t>flights.txt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 spc="-79">
                <a:solidFill>
                  <a:srgbClr val="000000"/>
                </a:solidFill>
                <a:latin typeface="Arsenal"/>
                <a:ea typeface="Arsenal"/>
                <a:cs typeface="Arsenal"/>
                <a:sym typeface="Arsenal"/>
              </a:rPr>
              <a:t>bookings.txt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 spc="-79">
                <a:solidFill>
                  <a:srgbClr val="000000"/>
                </a:solidFill>
                <a:latin typeface="Arsenal"/>
                <a:ea typeface="Arsenal"/>
                <a:cs typeface="Arsenal"/>
                <a:sym typeface="Arsenal"/>
              </a:rPr>
              <a:t>queue.txt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 spc="-79">
                <a:solidFill>
                  <a:srgbClr val="000000"/>
                </a:solidFill>
                <a:latin typeface="Arsenal"/>
                <a:ea typeface="Arsenal"/>
                <a:cs typeface="Arsenal"/>
                <a:sym typeface="Arsenal"/>
              </a:rPr>
              <a:t>Ensures data persistence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  <a:p>
            <a:pPr algn="l">
              <a:lnSpc>
                <a:spcPts val="6000"/>
              </a:lnSpc>
              <a:spcBef>
                <a:spcPct val="0"/>
              </a:spcBef>
            </a:pPr>
            <a:r>
              <a:rPr lang="en-US" b="true" sz="5000" spc="-100">
                <a:solidFill>
                  <a:srgbClr val="000000"/>
                </a:solidFill>
                <a:latin typeface="Arsenal Bold"/>
                <a:ea typeface="Arsenal Bold"/>
                <a:cs typeface="Arsenal Bold"/>
                <a:sym typeface="Arsenal Bold"/>
              </a:rPr>
              <a:t>Advanced Search Module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 spc="-79">
                <a:solidFill>
                  <a:srgbClr val="000000"/>
                </a:solidFill>
                <a:latin typeface="Arsenal"/>
                <a:ea typeface="Arsenal"/>
                <a:cs typeface="Arsenal"/>
                <a:sym typeface="Arsenal"/>
              </a:rPr>
              <a:t>Search flights by: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 spc="-79">
                <a:solidFill>
                  <a:srgbClr val="000000"/>
                </a:solidFill>
                <a:latin typeface="Arsenal"/>
                <a:ea typeface="Arsenal"/>
                <a:cs typeface="Arsenal"/>
                <a:sym typeface="Arsenal"/>
              </a:rPr>
              <a:t>Source &amp; Destination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 spc="-79">
                <a:solidFill>
                  <a:srgbClr val="000000"/>
                </a:solidFill>
                <a:latin typeface="Arsenal"/>
                <a:ea typeface="Arsenal"/>
                <a:cs typeface="Arsenal"/>
                <a:sym typeface="Arsenal"/>
              </a:rPr>
              <a:t>Date Range (± days)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 spc="-79">
                <a:solidFill>
                  <a:srgbClr val="000000"/>
                </a:solidFill>
                <a:latin typeface="Arsenal"/>
                <a:ea typeface="Arsenal"/>
                <a:cs typeface="Arsenal"/>
                <a:sym typeface="Arsenal"/>
              </a:rPr>
              <a:t>Uses Date &amp; Time calculations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D4E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85738"/>
            <a:ext cx="16230600" cy="168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19"/>
              </a:lnSpc>
              <a:spcBef>
                <a:spcPct val="0"/>
              </a:spcBef>
            </a:pPr>
            <a:r>
              <a:rPr lang="en-US" sz="11099" spc="-221">
                <a:solidFill>
                  <a:srgbClr val="000000"/>
                </a:solidFill>
                <a:latin typeface="Arsenal"/>
                <a:ea typeface="Arsenal"/>
                <a:cs typeface="Arsenal"/>
                <a:sym typeface="Arsenal"/>
              </a:rPr>
              <a:t>Description of modules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09586" y="2164853"/>
            <a:ext cx="17978414" cy="7705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10"/>
              </a:lnSpc>
              <a:spcBef>
                <a:spcPct val="0"/>
              </a:spcBef>
            </a:pPr>
            <a:r>
              <a:rPr lang="en-US" b="true" sz="386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Flight Management Module</a:t>
            </a:r>
          </a:p>
          <a:p>
            <a:pPr algn="l">
              <a:lnSpc>
                <a:spcPts val="5410"/>
              </a:lnSpc>
              <a:spcBef>
                <a:spcPct val="0"/>
              </a:spcBef>
            </a:pPr>
          </a:p>
          <a:p>
            <a:pPr algn="l">
              <a:lnSpc>
                <a:spcPts val="4057"/>
              </a:lnSpc>
              <a:spcBef>
                <a:spcPct val="0"/>
              </a:spcBef>
            </a:pPr>
            <a:r>
              <a:rPr lang="en-US" sz="28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This module handles all flight-related operations in the system. It stores details like flight number, source, destination, departure time, airline, date, cost, and available seats. A singly linked list is used to manage flight records dynamically.</a:t>
            </a:r>
          </a:p>
          <a:p>
            <a:pPr algn="l">
              <a:lnSpc>
                <a:spcPts val="4057"/>
              </a:lnSpc>
              <a:spcBef>
                <a:spcPct val="0"/>
              </a:spcBef>
            </a:pPr>
            <a:r>
              <a:rPr lang="en-US" sz="28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Users can add new flights, view all flights in a structured table format, and convert the list into an array for sorting purposes. This module forms the core data storage of the system.</a:t>
            </a:r>
          </a:p>
          <a:p>
            <a:pPr algn="l">
              <a:lnSpc>
                <a:spcPts val="4057"/>
              </a:lnSpc>
              <a:spcBef>
                <a:spcPct val="0"/>
              </a:spcBef>
            </a:pPr>
          </a:p>
          <a:p>
            <a:pPr algn="l">
              <a:lnSpc>
                <a:spcPts val="5410"/>
              </a:lnSpc>
              <a:spcBef>
                <a:spcPct val="0"/>
              </a:spcBef>
            </a:pPr>
            <a:r>
              <a:rPr lang="en-US" b="true" sz="386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Booking Management Module</a:t>
            </a:r>
          </a:p>
          <a:p>
            <a:pPr algn="l">
              <a:lnSpc>
                <a:spcPts val="4057"/>
              </a:lnSpc>
              <a:spcBef>
                <a:spcPct val="0"/>
              </a:spcBef>
            </a:pPr>
          </a:p>
          <a:p>
            <a:pPr algn="l">
              <a:lnSpc>
                <a:spcPts val="4057"/>
              </a:lnSpc>
              <a:spcBef>
                <a:spcPct val="0"/>
              </a:spcBef>
            </a:pPr>
            <a:r>
              <a:rPr lang="en-US" sz="28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This module manages passenger bookings. It stores the passenger name and corresponding flight number using a doubly linked list, allowing easy traversal in both directions.</a:t>
            </a:r>
          </a:p>
          <a:p>
            <a:pPr algn="l">
              <a:lnSpc>
                <a:spcPts val="4057"/>
              </a:lnSpc>
              <a:spcBef>
                <a:spcPct val="0"/>
              </a:spcBef>
            </a:pPr>
            <a:r>
              <a:rPr lang="en-US" sz="28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Users can add new bookings and view all existing bookings. This structure helps efficiently maintain and organize booking records.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D4E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952500"/>
            <a:ext cx="18288000" cy="673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Check-in Queue Module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This module simulates the airport check-in process using a queue (FIFO principle). Passengers are added to the queue when they arrive for check-in and are processed in order.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 includes operations like joining the queue, processing check-in, and displaying the current queue. This ensures fair and real-time handling of passengers.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Searching Module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This module uses a generic binary search algorithm to efficiently search flight records. It works on sorted data and reduces search time compared to linear search.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 is implemented using Java generics, making it reusable for different data types.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D4E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4038" y="952500"/>
            <a:ext cx="17319923" cy="442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b="true" sz="3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Sorting Module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Sorting is implemented using two algorithms: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Quick Sort: Sorts flights based on flight number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Merge Sort: Sorts flights based on departure time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These algorithms improve data organization and help users view flights in a structured manner.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591182" y="1871662"/>
          <a:ext cx="9429750" cy="4400550"/>
        </p:xfrm>
        <a:graphic>
          <a:graphicData uri="http://schemas.openxmlformats.org/presentationml/2006/ole">
            <p:oleObj imgW="11315700" imgH="62865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3483844" y="185738"/>
            <a:ext cx="11107441" cy="168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19"/>
              </a:lnSpc>
              <a:spcBef>
                <a:spcPct val="0"/>
              </a:spcBef>
            </a:pPr>
            <a:r>
              <a:rPr lang="en-US" sz="11099" spc="-221">
                <a:solidFill>
                  <a:srgbClr val="000000"/>
                </a:solidFill>
                <a:latin typeface="Arsenal"/>
                <a:ea typeface="Arsenal"/>
                <a:cs typeface="Arsenal"/>
                <a:sym typeface="Arsenal"/>
              </a:rPr>
              <a:t>Data structures used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62682" y="325151"/>
            <a:ext cx="12140721" cy="9636698"/>
          </a:xfrm>
          <a:custGeom>
            <a:avLst/>
            <a:gdLst/>
            <a:ahLst/>
            <a:cxnLst/>
            <a:rect r="r" b="b" t="t" l="l"/>
            <a:pathLst>
              <a:path h="9636698" w="12140721">
                <a:moveTo>
                  <a:pt x="0" y="0"/>
                </a:moveTo>
                <a:lnTo>
                  <a:pt x="12140721" y="0"/>
                </a:lnTo>
                <a:lnTo>
                  <a:pt x="12140721" y="9636698"/>
                </a:lnTo>
                <a:lnTo>
                  <a:pt x="0" y="96366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83767" y="291700"/>
            <a:ext cx="14702424" cy="9703600"/>
          </a:xfrm>
          <a:custGeom>
            <a:avLst/>
            <a:gdLst/>
            <a:ahLst/>
            <a:cxnLst/>
            <a:rect r="r" b="b" t="t" l="l"/>
            <a:pathLst>
              <a:path h="9703600" w="14702424">
                <a:moveTo>
                  <a:pt x="0" y="0"/>
                </a:moveTo>
                <a:lnTo>
                  <a:pt x="14702424" y="0"/>
                </a:lnTo>
                <a:lnTo>
                  <a:pt x="14702424" y="9703600"/>
                </a:lnTo>
                <a:lnTo>
                  <a:pt x="0" y="970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4163" y="308076"/>
            <a:ext cx="14570016" cy="9670848"/>
          </a:xfrm>
          <a:custGeom>
            <a:avLst/>
            <a:gdLst/>
            <a:ahLst/>
            <a:cxnLst/>
            <a:rect r="r" b="b" t="t" l="l"/>
            <a:pathLst>
              <a:path h="9670848" w="14570016">
                <a:moveTo>
                  <a:pt x="0" y="0"/>
                </a:moveTo>
                <a:lnTo>
                  <a:pt x="14570016" y="0"/>
                </a:lnTo>
                <a:lnTo>
                  <a:pt x="14570016" y="9670848"/>
                </a:lnTo>
                <a:lnTo>
                  <a:pt x="0" y="96708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66275" y="428636"/>
            <a:ext cx="8158952" cy="9429727"/>
          </a:xfrm>
          <a:custGeom>
            <a:avLst/>
            <a:gdLst/>
            <a:ahLst/>
            <a:cxnLst/>
            <a:rect r="r" b="b" t="t" l="l"/>
            <a:pathLst>
              <a:path h="9429727" w="8158952">
                <a:moveTo>
                  <a:pt x="0" y="0"/>
                </a:moveTo>
                <a:lnTo>
                  <a:pt x="8158952" y="0"/>
                </a:lnTo>
                <a:lnTo>
                  <a:pt x="8158952" y="9429728"/>
                </a:lnTo>
                <a:lnTo>
                  <a:pt x="0" y="94297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57885" y="2152388"/>
            <a:ext cx="11638263" cy="7498478"/>
          </a:xfrm>
          <a:custGeom>
            <a:avLst/>
            <a:gdLst/>
            <a:ahLst/>
            <a:cxnLst/>
            <a:rect r="r" b="b" t="t" l="l"/>
            <a:pathLst>
              <a:path h="7498478" w="11638263">
                <a:moveTo>
                  <a:pt x="0" y="0"/>
                </a:moveTo>
                <a:lnTo>
                  <a:pt x="11638264" y="0"/>
                </a:lnTo>
                <a:lnTo>
                  <a:pt x="11638264" y="7498479"/>
                </a:lnTo>
                <a:lnTo>
                  <a:pt x="0" y="749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290195" y="185738"/>
            <a:ext cx="7707610" cy="168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19"/>
              </a:lnSpc>
              <a:spcBef>
                <a:spcPct val="0"/>
              </a:spcBef>
            </a:pPr>
            <a:r>
              <a:rPr lang="en-US" sz="11099" spc="-221">
                <a:solidFill>
                  <a:srgbClr val="000000"/>
                </a:solidFill>
                <a:latin typeface="Arsenal"/>
                <a:ea typeface="Arsenal"/>
                <a:cs typeface="Arsenal"/>
                <a:sym typeface="Arsenal"/>
              </a:rPr>
              <a:t>sample output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9481" y="2286059"/>
            <a:ext cx="15679819" cy="5714881"/>
          </a:xfrm>
          <a:custGeom>
            <a:avLst/>
            <a:gdLst/>
            <a:ahLst/>
            <a:cxnLst/>
            <a:rect r="r" b="b" t="t" l="l"/>
            <a:pathLst>
              <a:path h="5714881" w="15679819">
                <a:moveTo>
                  <a:pt x="0" y="0"/>
                </a:moveTo>
                <a:lnTo>
                  <a:pt x="15679819" y="0"/>
                </a:lnTo>
                <a:lnTo>
                  <a:pt x="15679819" y="5714882"/>
                </a:lnTo>
                <a:lnTo>
                  <a:pt x="0" y="57148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72632" y="1756642"/>
            <a:ext cx="13622616" cy="7936351"/>
          </a:xfrm>
          <a:custGeom>
            <a:avLst/>
            <a:gdLst/>
            <a:ahLst/>
            <a:cxnLst/>
            <a:rect r="r" b="b" t="t" l="l"/>
            <a:pathLst>
              <a:path h="7936351" w="13622616">
                <a:moveTo>
                  <a:pt x="0" y="0"/>
                </a:moveTo>
                <a:lnTo>
                  <a:pt x="13622616" y="0"/>
                </a:lnTo>
                <a:lnTo>
                  <a:pt x="13622616" y="7936351"/>
                </a:lnTo>
                <a:lnTo>
                  <a:pt x="0" y="79363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128835" y="0"/>
            <a:ext cx="3910211" cy="168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19"/>
              </a:lnSpc>
              <a:spcBef>
                <a:spcPct val="0"/>
              </a:spcBef>
            </a:pPr>
            <a:r>
              <a:rPr lang="en-US" sz="11099" spc="-221">
                <a:solidFill>
                  <a:srgbClr val="000000"/>
                </a:solidFill>
                <a:latin typeface="Arsenal"/>
                <a:ea typeface="Arsenal"/>
                <a:cs typeface="Arsenal"/>
                <a:sym typeface="Arsenal"/>
              </a:rPr>
              <a:t>Display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D4E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363392" y="185738"/>
            <a:ext cx="9561215" cy="168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19"/>
              </a:lnSpc>
              <a:spcBef>
                <a:spcPct val="0"/>
              </a:spcBef>
            </a:pPr>
            <a:r>
              <a:rPr lang="en-US" sz="11099" spc="-221">
                <a:solidFill>
                  <a:srgbClr val="000000"/>
                </a:solidFill>
                <a:latin typeface="Arsenal"/>
                <a:ea typeface="Arsenal"/>
                <a:cs typeface="Arsenal"/>
                <a:sym typeface="Arsenal"/>
              </a:rPr>
              <a:t>What we learned?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057400"/>
            <a:ext cx="17803144" cy="720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 spc="-79">
                <a:solidFill>
                  <a:srgbClr val="000000"/>
                </a:solidFill>
                <a:latin typeface="Arsenal"/>
                <a:ea typeface="Arsenal"/>
                <a:cs typeface="Arsenal"/>
                <a:sym typeface="Arsenal"/>
              </a:rPr>
              <a:t>Through this project, we gained practical knowledge of applying data structures and algorithms in real-world applications.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 spc="-79">
                <a:solidFill>
                  <a:srgbClr val="000000"/>
                </a:solidFill>
                <a:latin typeface="Arsenal"/>
                <a:ea typeface="Arsenal"/>
                <a:cs typeface="Arsenal"/>
                <a:sym typeface="Arsenal"/>
              </a:rPr>
              <a:t>We learned how to use different data structures like linked lists, queues, and arrays to efficiently manage and organize data.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 spc="-79">
                <a:solidFill>
                  <a:srgbClr val="000000"/>
                </a:solidFill>
                <a:latin typeface="Arsenal"/>
                <a:ea typeface="Arsenal"/>
                <a:cs typeface="Arsenal"/>
                <a:sym typeface="Arsenal"/>
              </a:rPr>
              <a:t>We understood the implementation of sorting algorithms (Quick Sort, Merge Sort) and searching techniques (Binary Search) to improve performance.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 spc="-79">
                <a:solidFill>
                  <a:srgbClr val="000000"/>
                </a:solidFill>
                <a:latin typeface="Arsenal"/>
                <a:ea typeface="Arsenal"/>
                <a:cs typeface="Arsenal"/>
                <a:sym typeface="Arsenal"/>
              </a:rPr>
              <a:t>We also gained experience in file handling, which helped us store and retrieve data permanently.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 spc="-79">
                <a:solidFill>
                  <a:srgbClr val="000000"/>
                </a:solidFill>
                <a:latin typeface="Arsenal"/>
                <a:ea typeface="Arsenal"/>
                <a:cs typeface="Arsenal"/>
                <a:sym typeface="Arsenal"/>
              </a:rPr>
              <a:t>Additionally, we improved our skills in problem-solving, logical thinking, and code organization.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 spc="-79">
                <a:solidFill>
                  <a:srgbClr val="000000"/>
                </a:solidFill>
                <a:latin typeface="Arsenal"/>
                <a:ea typeface="Arsenal"/>
                <a:cs typeface="Arsenal"/>
                <a:sym typeface="Arsenal"/>
              </a:rPr>
              <a:t>Working as a team helped us develop communication, collaboration, and project management skills.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D4E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79157" y="401207"/>
            <a:ext cx="8148737" cy="168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19"/>
              </a:lnSpc>
              <a:spcBef>
                <a:spcPct val="0"/>
              </a:spcBef>
            </a:pPr>
            <a:r>
              <a:rPr lang="en-US" sz="11099" spc="-221">
                <a:solidFill>
                  <a:srgbClr val="000000"/>
                </a:solidFill>
                <a:latin typeface="Arsenal"/>
                <a:ea typeface="Arsenal"/>
                <a:cs typeface="Arsenal"/>
                <a:sym typeface="Arsenal"/>
              </a:rPr>
              <a:t>Future Analysis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10456" y="2952712"/>
            <a:ext cx="18288000" cy="6600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 spc="-79">
                <a:solidFill>
                  <a:srgbClr val="000000"/>
                </a:solidFill>
                <a:latin typeface="Arsenal"/>
                <a:ea typeface="Arsenal"/>
                <a:cs typeface="Arsenal"/>
                <a:sym typeface="Arsenal"/>
              </a:rPr>
              <a:t>This project can be further improved by adding more advanced features and technologies.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 spc="-79">
                <a:solidFill>
                  <a:srgbClr val="000000"/>
                </a:solidFill>
                <a:latin typeface="Arsenal"/>
                <a:ea typeface="Arsenal"/>
                <a:cs typeface="Arsenal"/>
                <a:sym typeface="Arsenal"/>
              </a:rPr>
              <a:t>Graphical User Interface (GUI): Replace console-based system with a user-friendly interface using JavaFX or web technologies.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 spc="-79">
                <a:solidFill>
                  <a:srgbClr val="000000"/>
                </a:solidFill>
                <a:latin typeface="Arsenal"/>
                <a:ea typeface="Arsenal"/>
                <a:cs typeface="Arsenal"/>
                <a:sym typeface="Arsenal"/>
              </a:rPr>
              <a:t>Database Integration: Use databases like MySQL instead of text files for better data security and scalability.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 spc="-79">
                <a:solidFill>
                  <a:srgbClr val="000000"/>
                </a:solidFill>
                <a:latin typeface="Arsenal"/>
                <a:ea typeface="Arsenal"/>
                <a:cs typeface="Arsenal"/>
                <a:sym typeface="Arsenal"/>
              </a:rPr>
              <a:t>User Authentication: Add login/signup system for passengers and admin.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 spc="-79">
                <a:solidFill>
                  <a:srgbClr val="000000"/>
                </a:solidFill>
                <a:latin typeface="Arsenal"/>
                <a:ea typeface="Arsenal"/>
                <a:cs typeface="Arsenal"/>
                <a:sym typeface="Arsenal"/>
              </a:rPr>
              <a:t>Online Booking System: Enable real-time booking through a web or mobile application.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 spc="-79">
                <a:solidFill>
                  <a:srgbClr val="000000"/>
                </a:solidFill>
                <a:latin typeface="Arsenal"/>
                <a:ea typeface="Arsenal"/>
                <a:cs typeface="Arsenal"/>
                <a:sym typeface="Arsenal"/>
              </a:rPr>
              <a:t>Seat Selection Feature: Allow users to choose seats visually.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 spc="-79">
                <a:solidFill>
                  <a:srgbClr val="000000"/>
                </a:solidFill>
                <a:latin typeface="Arsenal"/>
                <a:ea typeface="Arsenal"/>
                <a:cs typeface="Arsenal"/>
                <a:sym typeface="Arsenal"/>
              </a:rPr>
              <a:t>Payment Integration: Add online payment options for booking confirmation.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 spc="-79">
                <a:solidFill>
                  <a:srgbClr val="000000"/>
                </a:solidFill>
                <a:latin typeface="Arsenal"/>
                <a:ea typeface="Arsenal"/>
                <a:cs typeface="Arsenal"/>
                <a:sym typeface="Arsenal"/>
              </a:rPr>
              <a:t>Advanced Search &amp; Filters: Include filters like price range, airline, and time.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 spc="-79">
                <a:solidFill>
                  <a:srgbClr val="000000"/>
                </a:solidFill>
                <a:latin typeface="Arsenal"/>
                <a:ea typeface="Arsenal"/>
                <a:cs typeface="Arsenal"/>
                <a:sym typeface="Arsenal"/>
              </a:rPr>
              <a:t>Notifications: Send booking confirmations via email or SMS.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D4E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957843" y="4045497"/>
            <a:ext cx="7630710" cy="2196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349"/>
              </a:lnSpc>
              <a:spcBef>
                <a:spcPct val="0"/>
              </a:spcBef>
            </a:pPr>
            <a:r>
              <a:rPr lang="en-US" sz="14457" spc="-289">
                <a:solidFill>
                  <a:srgbClr val="000000"/>
                </a:solidFill>
                <a:latin typeface="Arsenal"/>
                <a:ea typeface="Arsenal"/>
                <a:cs typeface="Arsenal"/>
                <a:sym typeface="Arsenal"/>
              </a:rPr>
              <a:t>Thank you.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0" y="7432548"/>
            <a:ext cx="18288000" cy="2295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  <a:spcBef>
                <a:spcPct val="0"/>
              </a:spcBef>
            </a:pPr>
            <a:r>
              <a:rPr lang="en-US" sz="5000" spc="-100">
                <a:solidFill>
                  <a:srgbClr val="000000"/>
                </a:solidFill>
                <a:latin typeface="Arsenal"/>
                <a:ea typeface="Arsenal"/>
                <a:cs typeface="Arsenal"/>
                <a:sym typeface="Arsenal"/>
              </a:rPr>
              <a:t>We also extend our heartfelt thanks to our faculty members for their valuable suggestions and constant motivation, which helped us improve and successfully complete this project.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DAHEQsVdAt8</dc:identifier>
  <dcterms:modified xsi:type="dcterms:W3CDTF">2011-08-01T06:04:30Z</dcterms:modified>
  <cp:revision>1</cp:revision>
  <dc:title>A</dc:title>
</cp:coreProperties>
</file>